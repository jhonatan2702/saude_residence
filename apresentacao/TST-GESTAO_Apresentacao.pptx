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822960"/>
            <a:ext cx="178816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108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TST-GESTÃO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BE7F3"/>
                </a:solidFill>
                <a:latin typeface="Segoe UI"/>
              </a:rPr>
              <a:t>Gestão de pacientes, terapias e indicadores assistenciais em uma única plataforma local, segura e profissional.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 err="1">
                <a:solidFill>
                  <a:srgbClr val="0B1220"/>
                </a:solidFill>
                <a:latin typeface="Segoe UI"/>
              </a:rPr>
              <a:t>Apresentação</a:t>
            </a:r>
            <a:r>
              <a:rPr sz="1300" b="0" dirty="0">
                <a:solidFill>
                  <a:srgbClr val="0B1220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0B1220"/>
                </a:solidFill>
                <a:latin typeface="Segoe UI"/>
              </a:rPr>
              <a:t>demonstrativa</a:t>
            </a:r>
            <a:endParaRPr sz="1300" b="0" dirty="0">
              <a:solidFill>
                <a:srgbClr val="0B1220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Acesso seguro por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01</a:t>
            </a:r>
          </a:p>
        </p:txBody>
      </p:sp>
      <p:pic>
        <p:nvPicPr>
          <p:cNvPr id="6" name="Picture 5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Tela de login corporativa com a identidade TST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Senhas protegidas por hash; troca obrigatória no 1º acesso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Proteção contra requisições forjadas (CSRF)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Atalho na Área de Trabalho e ícone na bandeja do Windows — sem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Painel BI — visão executiva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02</a:t>
            </a:r>
          </a:p>
        </p:txBody>
      </p:sp>
      <p:pic>
        <p:nvPicPr>
          <p:cNvPr id="6" name="Picture 5" descr="dashboar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ativos, admissões, altas e óbitos por dia, mês e ano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Taxa de mortalidade mensal e anual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Data de referência ajustável para qualquer período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Pendências e motivos de alta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03</a:t>
            </a:r>
          </a:p>
        </p:txBody>
      </p:sp>
      <p:pic>
        <p:nvPicPr>
          <p:cNvPr id="6" name="Picture 5" descr="dashboar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Pendências por terapia no mês: Psico, Nutri, TO, Fono e Fisio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Principais motivos de alta (dia, mês ou ano)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Complexidade com percentual (Básico / Intermediário / Intensivo)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por faixa etária e idade média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Perfil da carteira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04</a:t>
            </a:r>
          </a:p>
        </p:txBody>
      </p:sp>
      <p:pic>
        <p:nvPicPr>
          <p:cNvPr id="6" name="Picture 5" descr="dashboar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por bairro, cidade e diagnóstico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Pacientes por serviço e por operadora de saúde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Cruzamento serviço × operadora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Cadastro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05</a:t>
            </a:r>
          </a:p>
        </p:txBody>
      </p:sp>
      <p:pic>
        <p:nvPicPr>
          <p:cNvPr id="6" name="Picture 5" descr="pac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Busca instantânea por código, nome, bairro, cidade ou diagnóstico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Acesso direto ao prontuário em cada linha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Permissões: consulta, operador, gestor e admin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Formulário com listas suspensas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06</a:t>
            </a:r>
          </a:p>
        </p:txBody>
      </p:sp>
      <p:pic>
        <p:nvPicPr>
          <p:cNvPr id="6" name="Picture 5" descr="novo_paci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Operadora, diagnóstico, complexidade e serviço padronizados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Validação de datas e campos obrigatórios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Admissão e alta geram a movimentação automaticamente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Prontuário e linha do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07</a:t>
            </a:r>
          </a:p>
        </p:txBody>
      </p:sp>
      <p:pic>
        <p:nvPicPr>
          <p:cNvPr id="6" name="Picture 5" descr="prontu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Ficha completa do paciente com idade e situação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Evoluções, movimentações, terapias e anexos em ordem cronológica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Filtros por tipo de registro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Cada registro guarda autor e data/hora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Documentos, exames e receitas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08</a:t>
            </a:r>
          </a:p>
        </p:txBody>
      </p:sp>
      <p:pic>
        <p:nvPicPr>
          <p:cNvPr id="6" name="Picture 5" descr="anex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Anexe PDF, imagens, Word e Excel (até 20 MB)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Categorias: Documento, Exame, Receita, Laudo, Relatório, Outros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Abrir/baixar apenas com login; arquivos validados por tipo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Terapias por paciente ×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09</a:t>
            </a:r>
          </a:p>
        </p:txBody>
      </p:sp>
      <p:pic>
        <p:nvPicPr>
          <p:cNvPr id="6" name="Picture 5" descr="terap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Modalidade, empresa, profissional, situação e frequência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Sessões, valor, agendado e relatório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Filtro por mês e busca rápida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Movimentação de pacientes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10</a:t>
            </a:r>
          </a:p>
        </p:txBody>
      </p:sp>
      <p:pic>
        <p:nvPicPr>
          <p:cNvPr id="6" name="Picture 5" descr="moviment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Admissão, alta, óbito, internação e retorno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Base dos indicadores de altas, admissões e mortalidade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Registrar o evento atualiza o paciente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Listas suspensas configuráveis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11</a:t>
            </a:r>
          </a:p>
        </p:txBody>
      </p:sp>
      <p:pic>
        <p:nvPicPr>
          <p:cNvPr id="6" name="Picture 5" descr="lis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Operadoras, empresas, profissionais, diagnósticos, motivos de alta, serviços e mais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Gestores adicionam ou removem opções sem suporte técnico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Usuários e níveis de acesso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12</a:t>
            </a:r>
          </a:p>
        </p:txBody>
      </p:sp>
      <p:pic>
        <p:nvPicPr>
          <p:cNvPr id="6" name="Picture 5" descr="usu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Consulta · Operador · Gestor · Admin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Ativação/desativação e redefinição de senha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Proteção contra remover o último administrador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Integrações por API — chaves e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13</a:t>
            </a:r>
          </a:p>
        </p:txBody>
      </p:sp>
      <p:pic>
        <p:nvPicPr>
          <p:cNvPr id="6" name="Picture 5" descr="integracoe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Chaves de API com escopo de leitura ou escrita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Webhooks assinados (HMAC-SHA256) com histórico de entregas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Acesso restrito à máquina local (127.0.0.1)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585216" cy="6583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15544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Segoe UI"/>
              </a:rPr>
              <a:t>Importação de planilhas e documentação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24688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1">
                <a:solidFill>
                  <a:srgbClr val="1EA7F0"/>
                </a:solidFill>
                <a:latin typeface="Segoe UI"/>
              </a:rPr>
              <a:t>14</a:t>
            </a:r>
          </a:p>
        </p:txBody>
      </p:sp>
      <p:pic>
        <p:nvPicPr>
          <p:cNvPr id="6" name="Picture 5" descr="integracoe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25880"/>
            <a:ext cx="7680960" cy="480060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1325880"/>
            <a:ext cx="3657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Importe Excel/CSV de pacientes, terapias e movimentações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Relatório de linhas criadas, atualizadas e com erro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B1220"/>
                </a:solidFill>
                <a:latin typeface="Segoe UI"/>
              </a:rPr>
              <a:t>▸ Exemplos prontos de uso da API na própria tela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t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822960"/>
            <a:ext cx="178816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310896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Segoe UI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DBE7F3"/>
                </a:solidFill>
                <a:latin typeface="Segoe UI"/>
              </a:rPr>
              <a:t>TST-GESTÃO · Sistema local com SQLite, painel BI, prontuário e integrações por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1247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dirty="0">
                <a:solidFill>
                  <a:srgbClr val="0B1220"/>
                </a:solidFill>
                <a:latin typeface="Segoe UI"/>
              </a:rPr>
              <a:t>Abra </a:t>
            </a:r>
            <a:r>
              <a:rPr sz="1300" b="0" dirty="0" err="1">
                <a:solidFill>
                  <a:srgbClr val="0B1220"/>
                </a:solidFill>
                <a:latin typeface="Segoe UI"/>
              </a:rPr>
              <a:t>pelo</a:t>
            </a:r>
            <a:r>
              <a:rPr sz="1300" b="0" dirty="0">
                <a:solidFill>
                  <a:srgbClr val="0B1220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0B1220"/>
                </a:solidFill>
                <a:latin typeface="Segoe UI"/>
              </a:rPr>
              <a:t>atalho</a:t>
            </a:r>
            <a:r>
              <a:rPr sz="1300" b="0" dirty="0">
                <a:solidFill>
                  <a:srgbClr val="0B1220"/>
                </a:solidFill>
                <a:latin typeface="Segoe UI"/>
              </a:rPr>
              <a:t> TST-GESTÃO · Primeiro </a:t>
            </a:r>
            <a:r>
              <a:rPr sz="1300" b="0" dirty="0" err="1">
                <a:solidFill>
                  <a:srgbClr val="0B1220"/>
                </a:solidFill>
                <a:latin typeface="Segoe UI"/>
              </a:rPr>
              <a:t>acesso</a:t>
            </a:r>
            <a:r>
              <a:rPr sz="1300" b="0" dirty="0">
                <a:solidFill>
                  <a:srgbClr val="0B1220"/>
                </a:solidFill>
                <a:latin typeface="Segoe UI"/>
              </a:rPr>
              <a:t>: admin / </a:t>
            </a:r>
            <a:r>
              <a:rPr lang="pt-BR" sz="1300" b="0">
                <a:solidFill>
                  <a:srgbClr val="0B1220"/>
                </a:solidFill>
                <a:latin typeface="Segoe UI"/>
              </a:rPr>
              <a:t>123456</a:t>
            </a:r>
            <a:endParaRPr sz="1300" b="0" dirty="0">
              <a:solidFill>
                <a:srgbClr val="0B1220"/>
              </a:solidFill>
              <a:latin typeface="Segoe U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560</Words>
  <Application>Microsoft Office PowerPoint</Application>
  <PresentationFormat>Widescreen</PresentationFormat>
  <Paragraphs>78</Paragraphs>
  <Slides>16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Jhonatan Oliveira</cp:lastModifiedBy>
  <cp:revision>2</cp:revision>
  <dcterms:created xsi:type="dcterms:W3CDTF">2013-01-27T09:14:16Z</dcterms:created>
  <dcterms:modified xsi:type="dcterms:W3CDTF">2026-10-20T17:58:04Z</dcterms:modified>
  <cp:category/>
</cp:coreProperties>
</file>