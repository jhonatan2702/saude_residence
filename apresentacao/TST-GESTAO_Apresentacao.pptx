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t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648" y="822960"/>
            <a:ext cx="1788160" cy="2011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31089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Segoe UI"/>
              </a:rPr>
              <a:t>TST-GESTÃO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11480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DBE7F3"/>
                </a:solidFill>
                <a:latin typeface="Segoe UI"/>
              </a:rPr>
              <a:t>Gestão de pacientes, terapias e indicadores assistenciais em uma única plataforma local, segura e profissional.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B1220"/>
                </a:solidFill>
                <a:latin typeface="Segoe UI"/>
              </a:rPr>
              <a:t>Apresentação demonstrativa · dados fictícios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t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585216" cy="6583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55448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Segoe UI"/>
              </a:rPr>
              <a:t>Acesso seguro por login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4688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>
                <a:solidFill>
                  <a:srgbClr val="1EA7F0"/>
                </a:solidFill>
                <a:latin typeface="Segoe UI"/>
              </a:rPr>
              <a:t>01</a:t>
            </a:r>
          </a:p>
        </p:txBody>
      </p:sp>
      <p:pic>
        <p:nvPicPr>
          <p:cNvPr id="6" name="Picture 5" descr="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325880"/>
            <a:ext cx="7680960" cy="480060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1325880"/>
            <a:ext cx="3657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B1220"/>
                </a:solidFill>
                <a:latin typeface="Segoe UI"/>
              </a:rPr>
              <a:t/>
            </a:r>
            <a:r>
              <a:rPr sz="1500">
                <a:solidFill>
                  <a:srgbClr val="0B1220"/>
                </a:solidFill>
                <a:latin typeface="Segoe UI"/>
              </a:rPr>
              <a:t>▸ Tela de login corporativa com a identidade TST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Senhas protegidas por hash; troca obrigatória no 1º acesso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Proteção contra requisições forjadas (CSRF)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Atalho na Área de Trabalho e ícone na bandeja do Windows — sem terminal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t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585216" cy="6583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55448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Segoe UI"/>
              </a:rPr>
              <a:t>Painel BI — visão executiva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4688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>
                <a:solidFill>
                  <a:srgbClr val="1EA7F0"/>
                </a:solidFill>
                <a:latin typeface="Segoe UI"/>
              </a:rPr>
              <a:t>02</a:t>
            </a:r>
          </a:p>
        </p:txBody>
      </p:sp>
      <p:pic>
        <p:nvPicPr>
          <p:cNvPr id="6" name="Picture 5" descr="dashboard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325880"/>
            <a:ext cx="7680960" cy="480060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1325880"/>
            <a:ext cx="3657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B1220"/>
                </a:solidFill>
                <a:latin typeface="Segoe UI"/>
              </a:rPr>
              <a:t/>
            </a:r>
            <a:r>
              <a:rPr sz="1500">
                <a:solidFill>
                  <a:srgbClr val="0B1220"/>
                </a:solidFill>
                <a:latin typeface="Segoe UI"/>
              </a:rPr>
              <a:t>▸ Pacientes ativos, admissões, altas e óbitos por dia, mês e ano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Taxa de mortalidade mensal e anual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Data de referência ajustável para qualquer período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t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585216" cy="6583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55448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Segoe UI"/>
              </a:rPr>
              <a:t>Pendências e motivos de alta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4688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>
                <a:solidFill>
                  <a:srgbClr val="1EA7F0"/>
                </a:solidFill>
                <a:latin typeface="Segoe UI"/>
              </a:rPr>
              <a:t>03</a:t>
            </a:r>
          </a:p>
        </p:txBody>
      </p:sp>
      <p:pic>
        <p:nvPicPr>
          <p:cNvPr id="6" name="Picture 5" descr="dashboar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325880"/>
            <a:ext cx="7680960" cy="480060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1325880"/>
            <a:ext cx="3657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B1220"/>
                </a:solidFill>
                <a:latin typeface="Segoe UI"/>
              </a:rPr>
              <a:t/>
            </a:r>
            <a:r>
              <a:rPr sz="1500">
                <a:solidFill>
                  <a:srgbClr val="0B1220"/>
                </a:solidFill>
                <a:latin typeface="Segoe UI"/>
              </a:rPr>
              <a:t>▸ Pendências por terapia no mês: Psico, Nutri, TO, Fono e Fisio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Principais motivos de alta (dia, mês ou ano)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Complexidade com percentual (Básico / Intermediário / Intensivo)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Pacientes por faixa etária e idade média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t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585216" cy="6583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55448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Segoe UI"/>
              </a:rPr>
              <a:t>Perfil da carteira de pacientes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4688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>
                <a:solidFill>
                  <a:srgbClr val="1EA7F0"/>
                </a:solidFill>
                <a:latin typeface="Segoe UI"/>
              </a:rPr>
              <a:t>04</a:t>
            </a:r>
          </a:p>
        </p:txBody>
      </p:sp>
      <p:pic>
        <p:nvPicPr>
          <p:cNvPr id="6" name="Picture 5" descr="dashboard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325880"/>
            <a:ext cx="7680960" cy="480060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1325880"/>
            <a:ext cx="3657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B1220"/>
                </a:solidFill>
                <a:latin typeface="Segoe UI"/>
              </a:rPr>
              <a:t/>
            </a:r>
            <a:r>
              <a:rPr sz="1500">
                <a:solidFill>
                  <a:srgbClr val="0B1220"/>
                </a:solidFill>
                <a:latin typeface="Segoe UI"/>
              </a:rPr>
              <a:t>▸ Pacientes por bairro, cidade e diagnóstico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Pacientes por serviço e por operadora de saúde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Cruzamento serviço × operadora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t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585216" cy="6583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55448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Segoe UI"/>
              </a:rPr>
              <a:t>Cadastro de pacientes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4688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>
                <a:solidFill>
                  <a:srgbClr val="1EA7F0"/>
                </a:solidFill>
                <a:latin typeface="Segoe UI"/>
              </a:rPr>
              <a:t>05</a:t>
            </a:r>
          </a:p>
        </p:txBody>
      </p:sp>
      <p:pic>
        <p:nvPicPr>
          <p:cNvPr id="6" name="Picture 5" descr="pacien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325880"/>
            <a:ext cx="7680960" cy="480060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1325880"/>
            <a:ext cx="3657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B1220"/>
                </a:solidFill>
                <a:latin typeface="Segoe UI"/>
              </a:rPr>
              <a:t/>
            </a:r>
            <a:r>
              <a:rPr sz="1500">
                <a:solidFill>
                  <a:srgbClr val="0B1220"/>
                </a:solidFill>
                <a:latin typeface="Segoe UI"/>
              </a:rPr>
              <a:t>▸ Busca instantânea por código, nome, bairro, cidade ou diagnóstico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Acesso direto ao prontuário em cada linha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Permissões: consulta, operador, gestor e admin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t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585216" cy="6583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55448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Segoe UI"/>
              </a:rPr>
              <a:t>Formulário com listas suspensas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4688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>
                <a:solidFill>
                  <a:srgbClr val="1EA7F0"/>
                </a:solidFill>
                <a:latin typeface="Segoe UI"/>
              </a:rPr>
              <a:t>06</a:t>
            </a:r>
          </a:p>
        </p:txBody>
      </p:sp>
      <p:pic>
        <p:nvPicPr>
          <p:cNvPr id="6" name="Picture 5" descr="novo_paci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325880"/>
            <a:ext cx="7680960" cy="480060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1325880"/>
            <a:ext cx="3657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B1220"/>
                </a:solidFill>
                <a:latin typeface="Segoe UI"/>
              </a:rPr>
              <a:t/>
            </a:r>
            <a:r>
              <a:rPr sz="1500">
                <a:solidFill>
                  <a:srgbClr val="0B1220"/>
                </a:solidFill>
                <a:latin typeface="Segoe UI"/>
              </a:rPr>
              <a:t>▸ Operadora, diagnóstico, complexidade e serviço padronizados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Validação de datas e campos obrigatórios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Admissão e alta geram a movimentação automaticamente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t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585216" cy="6583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55448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Segoe UI"/>
              </a:rPr>
              <a:t>Prontuário e linha do tempo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4688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>
                <a:solidFill>
                  <a:srgbClr val="1EA7F0"/>
                </a:solidFill>
                <a:latin typeface="Segoe UI"/>
              </a:rPr>
              <a:t>07</a:t>
            </a:r>
          </a:p>
        </p:txBody>
      </p:sp>
      <p:pic>
        <p:nvPicPr>
          <p:cNvPr id="6" name="Picture 5" descr="prontua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325880"/>
            <a:ext cx="7680960" cy="480060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1325880"/>
            <a:ext cx="3657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B1220"/>
                </a:solidFill>
                <a:latin typeface="Segoe UI"/>
              </a:rPr>
              <a:t/>
            </a:r>
            <a:r>
              <a:rPr sz="1500">
                <a:solidFill>
                  <a:srgbClr val="0B1220"/>
                </a:solidFill>
                <a:latin typeface="Segoe UI"/>
              </a:rPr>
              <a:t>▸ Ficha completa do paciente com idade e situação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Evoluções, movimentações, terapias e anexos em ordem cronológica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Filtros por tipo de registro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Cada registro guarda autor e data/hora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t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585216" cy="6583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55448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Segoe UI"/>
              </a:rPr>
              <a:t>Documentos, exames e receitas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4688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>
                <a:solidFill>
                  <a:srgbClr val="1EA7F0"/>
                </a:solidFill>
                <a:latin typeface="Segoe UI"/>
              </a:rPr>
              <a:t>08</a:t>
            </a:r>
          </a:p>
        </p:txBody>
      </p:sp>
      <p:pic>
        <p:nvPicPr>
          <p:cNvPr id="6" name="Picture 5" descr="anex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325880"/>
            <a:ext cx="7680960" cy="480060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1325880"/>
            <a:ext cx="3657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B1220"/>
                </a:solidFill>
                <a:latin typeface="Segoe UI"/>
              </a:rPr>
              <a:t/>
            </a:r>
            <a:r>
              <a:rPr sz="1500">
                <a:solidFill>
                  <a:srgbClr val="0B1220"/>
                </a:solidFill>
                <a:latin typeface="Segoe UI"/>
              </a:rPr>
              <a:t>▸ Anexe PDF, imagens, Word e Excel (até 20 MB)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Categorias: Documento, Exame, Receita, Laudo, Relatório, Outros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Abrir/baixar apenas com login; arquivos validados por tipo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t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585216" cy="6583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55448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Segoe UI"/>
              </a:rPr>
              <a:t>Terapias por paciente × mês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4688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>
                <a:solidFill>
                  <a:srgbClr val="1EA7F0"/>
                </a:solidFill>
                <a:latin typeface="Segoe UI"/>
              </a:rPr>
              <a:t>09</a:t>
            </a:r>
          </a:p>
        </p:txBody>
      </p:sp>
      <p:pic>
        <p:nvPicPr>
          <p:cNvPr id="6" name="Picture 5" descr="terapi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325880"/>
            <a:ext cx="7680960" cy="480060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1325880"/>
            <a:ext cx="3657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B1220"/>
                </a:solidFill>
                <a:latin typeface="Segoe UI"/>
              </a:rPr>
              <a:t/>
            </a:r>
            <a:r>
              <a:rPr sz="1500">
                <a:solidFill>
                  <a:srgbClr val="0B1220"/>
                </a:solidFill>
                <a:latin typeface="Segoe UI"/>
              </a:rPr>
              <a:t>▸ Modalidade, empresa, profissional, situação e frequência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Sessões, valor, agendado e relatório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Filtro por mês e busca rápida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t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585216" cy="6583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55448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Segoe UI"/>
              </a:rPr>
              <a:t>Movimentação de pacientes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4688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>
                <a:solidFill>
                  <a:srgbClr val="1EA7F0"/>
                </a:solidFill>
                <a:latin typeface="Segoe UI"/>
              </a:rPr>
              <a:t>10</a:t>
            </a:r>
          </a:p>
        </p:txBody>
      </p:sp>
      <p:pic>
        <p:nvPicPr>
          <p:cNvPr id="6" name="Picture 5" descr="movimenta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325880"/>
            <a:ext cx="7680960" cy="480060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1325880"/>
            <a:ext cx="3657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B1220"/>
                </a:solidFill>
                <a:latin typeface="Segoe UI"/>
              </a:rPr>
              <a:t/>
            </a:r>
            <a:r>
              <a:rPr sz="1500">
                <a:solidFill>
                  <a:srgbClr val="0B1220"/>
                </a:solidFill>
                <a:latin typeface="Segoe UI"/>
              </a:rPr>
              <a:t>▸ Admissão, alta, óbito, internação e retorno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Base dos indicadores de altas, admissões e mortalidade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Registrar o evento atualiza o paciente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t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585216" cy="6583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55448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Segoe UI"/>
              </a:rPr>
              <a:t>Listas suspensas configuráveis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4688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>
                <a:solidFill>
                  <a:srgbClr val="1EA7F0"/>
                </a:solidFill>
                <a:latin typeface="Segoe UI"/>
              </a:rPr>
              <a:t>11</a:t>
            </a:r>
          </a:p>
        </p:txBody>
      </p:sp>
      <p:pic>
        <p:nvPicPr>
          <p:cNvPr id="6" name="Picture 5" descr="list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325880"/>
            <a:ext cx="7680960" cy="480060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1325880"/>
            <a:ext cx="3657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B1220"/>
                </a:solidFill>
                <a:latin typeface="Segoe UI"/>
              </a:rPr>
              <a:t/>
            </a:r>
            <a:r>
              <a:rPr sz="1500">
                <a:solidFill>
                  <a:srgbClr val="0B1220"/>
                </a:solidFill>
                <a:latin typeface="Segoe UI"/>
              </a:rPr>
              <a:t>▸ Operadoras, empresas, profissionais, diagnósticos, motivos de alta, serviços e mais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Gestores adicionam ou removem opções sem suporte técnico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t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585216" cy="6583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55448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Segoe UI"/>
              </a:rPr>
              <a:t>Usuários e níveis de acesso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4688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>
                <a:solidFill>
                  <a:srgbClr val="1EA7F0"/>
                </a:solidFill>
                <a:latin typeface="Segoe UI"/>
              </a:rPr>
              <a:t>12</a:t>
            </a:r>
          </a:p>
        </p:txBody>
      </p:sp>
      <p:pic>
        <p:nvPicPr>
          <p:cNvPr id="6" name="Picture 5" descr="usuari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325880"/>
            <a:ext cx="7680960" cy="480060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1325880"/>
            <a:ext cx="3657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B1220"/>
                </a:solidFill>
                <a:latin typeface="Segoe UI"/>
              </a:rPr>
              <a:t/>
            </a:r>
            <a:r>
              <a:rPr sz="1500">
                <a:solidFill>
                  <a:srgbClr val="0B1220"/>
                </a:solidFill>
                <a:latin typeface="Segoe UI"/>
              </a:rPr>
              <a:t>▸ Consulta · Operador · Gestor · Admin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Ativação/desativação e redefinição de senha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Proteção contra remover o último administrador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t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585216" cy="6583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55448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Segoe UI"/>
              </a:rPr>
              <a:t>Integrações por API — chaves e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4688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>
                <a:solidFill>
                  <a:srgbClr val="1EA7F0"/>
                </a:solidFill>
                <a:latin typeface="Segoe UI"/>
              </a:rPr>
              <a:t>13</a:t>
            </a:r>
          </a:p>
        </p:txBody>
      </p:sp>
      <p:pic>
        <p:nvPicPr>
          <p:cNvPr id="6" name="Picture 5" descr="integracoe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325880"/>
            <a:ext cx="7680960" cy="480060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1325880"/>
            <a:ext cx="3657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B1220"/>
                </a:solidFill>
                <a:latin typeface="Segoe UI"/>
              </a:rPr>
              <a:t/>
            </a:r>
            <a:r>
              <a:rPr sz="1500">
                <a:solidFill>
                  <a:srgbClr val="0B1220"/>
                </a:solidFill>
                <a:latin typeface="Segoe UI"/>
              </a:rPr>
              <a:t>▸ Chaves de API com escopo de leitura ou escrita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Webhooks assinados (HMAC-SHA256) com histórico de entregas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Acesso restrito à máquina local (127.0.0.1)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t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585216" cy="6583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55448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Segoe UI"/>
              </a:rPr>
              <a:t>Importação de planilhas e documentação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4688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>
                <a:solidFill>
                  <a:srgbClr val="1EA7F0"/>
                </a:solidFill>
                <a:latin typeface="Segoe UI"/>
              </a:rPr>
              <a:t>14</a:t>
            </a:r>
          </a:p>
        </p:txBody>
      </p:sp>
      <p:pic>
        <p:nvPicPr>
          <p:cNvPr id="6" name="Picture 5" descr="integracoes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325880"/>
            <a:ext cx="7680960" cy="480060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1325880"/>
            <a:ext cx="3657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B1220"/>
                </a:solidFill>
                <a:latin typeface="Segoe UI"/>
              </a:rPr>
              <a:t/>
            </a:r>
            <a:r>
              <a:rPr sz="1500">
                <a:solidFill>
                  <a:srgbClr val="0B1220"/>
                </a:solidFill>
                <a:latin typeface="Segoe UI"/>
              </a:rPr>
              <a:t>▸ Importe Excel/CSV de pacientes, terapias e movimentações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Relatório de linhas criadas, atualizadas e com erro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Exemplos prontos de uso da API na própria tela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t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648" y="822960"/>
            <a:ext cx="1788160" cy="2011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31089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Segoe UI"/>
              </a:rPr>
              <a:t>Obrigado!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11480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DBE7F3"/>
                </a:solidFill>
                <a:latin typeface="Segoe UI"/>
              </a:rPr>
              <a:t>TST-GESTÃO · Sistema local com SQLite, painel BI, prontuário e integrações por API.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B1220"/>
                </a:solidFill>
                <a:latin typeface="Segoe UI"/>
              </a:rPr>
              <a:t>Abra pelo atalho TST-GESTÃO · Primeiro acesso: admin / admin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